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c5ff3be-7f42-57bc-0add-7e1203c949a6}">
          <p14:sldIdLst>
            <p14:sldId id="256"/>
            <p14:sldId id="257"/>
            <p14:sldId id="258"/>
          </p14:sldIdLst>
        </p14:section>
        <p14:section name="Product" id="{502fab62-3820-f3c1-61b9-fc0883807d9b}">
          <p14:sldIdLst>
            <p14:sldId id="259"/>
            <p14:sldId id="260"/>
            <p14:sldId id="261"/>
            <p14:sldId id="262"/>
          </p14:sldIdLst>
        </p14:section>
        <p14:section name="Business" id="{aca15b5b-ff92-2eef-253c-d014b7611507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Appendix" id="{18ddde76-c5ab-de56-caa9-2482896f73d0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line out loud, then go straight to why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timing argument: x402 is standard infrastructure now, and Netra already speaks it on Solana.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refund detail is what makes it sound like a product rather than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person taps a portal, an agent answers a 402, and the firewall treats them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limits before you are asked; it buys credibility for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graveyard first kills the Helium comparison before an investor raises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FULL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D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3201D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FULL">
    <p:bg>
      <p:bgPr>
        <a:solidFill>
          <a:srgbClr val="ED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sonfang/Desktop/hotspot-dex/hardware/renders/card_graphite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0"/>
            <a:ext cx="67025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0574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500" kern="0" dirty="0">
                <a:solidFill>
                  <a:srgbClr val="13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NETRA</a:t>
            </a:r>
            <a:endParaRPr lang="en-US" sz="68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3310128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internet access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can buy by itself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77240" y="4709160"/>
            <a:ext cx="2011680" cy="0"/>
          </a:xfrm>
          <a:prstGeom prst="line">
            <a:avLst/>
          </a:prstGeom>
          <a:noFill/>
          <a:ln w="12700">
            <a:solidFill>
              <a:srgbClr val="B9C5C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October 2026  ·  Jason Fang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can hold a wallet now.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sells it a network connection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75M</a:t>
            </a:r>
            <a:endParaRPr lang="en-US" sz="10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886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settled over the x402 standard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30 days to 14 September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2514600"/>
            <a:ext cx="5577840" cy="0"/>
          </a:xfrm>
          <a:prstGeom prst="line">
            <a:avLst/>
          </a:prstGeom>
          <a:noFill/>
          <a:ln w="12700">
            <a:solidFill>
              <a:srgbClr val="2533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26974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3337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volume through the same standard, most of it on Solana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0" y="3886200"/>
            <a:ext cx="5577840" cy="0"/>
          </a:xfrm>
          <a:prstGeom prst="line">
            <a:avLst/>
          </a:prstGeom>
          <a:noFill/>
          <a:ln w="12700">
            <a:solidFill>
              <a:srgbClr val="2533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40690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47091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moved under Linux Foundation governance, backed by AWS, Google, Stripe and Visa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3889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5321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payments buys an API call, a file or a dataset. None of them buys the connection itself.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Paid access still assumes a human with a credit card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486400" cy="3611880"/>
          </a:xfrm>
          <a:prstGeom prst="roundRect">
            <a:avLst>
              <a:gd name="adj" fmla="val 2532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has no way to buy an hour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portals are built for a person tapping “I agree”. Automating that is fragile and usually outside the venue's terms.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4937760" cy="1737360"/>
          </a:xfrm>
          <a:prstGeom prst="roundRect">
            <a:avLst>
              <a:gd name="adj" fmla="val 5263"/>
            </a:avLst>
          </a:prstGeom>
          <a:solidFill>
            <a:srgbClr val="0A1512"/>
          </a:solidFill>
          <a:ln w="12700">
            <a:solidFill>
              <a:srgbClr val="1E2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310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HTTP/1.1 402 Payment Required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price:    0.006 SOL / 10 min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pay-to:   9xQeW…f4Kd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deadline: 60s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407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standard answer exists today</a:t>
            </a:r>
            <a:endParaRPr lang="en-US" sz="1300" dirty="0"/>
          </a:p>
        </p:txBody>
      </p:sp>
      <p:pic>
        <p:nvPicPr>
          <p:cNvPr id="12" name="Image 0" descr="/Users/jasonfang/Desktop/hotspot-dex/hardware/renders/card_graphite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08760"/>
            <a:ext cx="5148072" cy="34381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0" y="507492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next to you has bandwidth to spare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5486400"/>
            <a:ext cx="5148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dead zone, at an event or abroad, there is no way to sell five minutes of it — and a day pass on a US carrier still runs about $10 to $12 abroad.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349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side gets a record: the host can't prove service, the buyer can't prove payment.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01D"/>
                </a:solidFill>
              </a:rPr>
              <a:t>A hotspot that opens only against a verified payment</a:t>
            </a:r>
            <a:endParaRPr lang="en-US" sz="3200" dirty="0"/>
          </a:p>
        </p:txBody>
      </p:sp>
      <p:pic>
        <p:nvPicPr>
          <p:cNvPr id="3" name="Image 0" descr="/Users/jasonfang/Desktop/hotspot-dex/hardware/netra-teardow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783080"/>
            <a:ext cx="6217920" cy="31729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13201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6733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on arrival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756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is blocked at the firewall the moment a device joins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990088"/>
            <a:ext cx="420624" cy="420624"/>
          </a:xfrm>
          <a:prstGeom prst="ellipse">
            <a:avLst/>
          </a:prstGeom>
          <a:solidFill>
            <a:srgbClr val="13201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971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in seconds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337413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pays through the captive portal, an agent answers an HTTP 402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288536"/>
            <a:ext cx="420624" cy="420624"/>
          </a:xfrm>
          <a:prstGeom prst="ellipse">
            <a:avLst/>
          </a:prstGeom>
          <a:solidFill>
            <a:srgbClr val="13201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4270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and receipted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467258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verifies on chain, opens the session, writes a receipt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5577840"/>
            <a:ext cx="4709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9D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55778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3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minutes are refunded pro rata, automatically.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Two buyers, one gate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783080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148840"/>
            <a:ext cx="4608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the hotspot, every site blocked → captive portal asks for payment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28232" y="16002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84264" y="1783080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84264" y="2148840"/>
            <a:ext cx="4608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purchase endpoint → 402 reply with price, address, deadline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324612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3246120"/>
            <a:ext cx="4517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on Solana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66160" y="43434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10332E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2192" y="4343400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Netra verifies on chain — the firewall opens the session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66160" y="56235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22192" y="5623560"/>
            <a:ext cx="4517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written for both sides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2834640"/>
            <a:ext cx="2286000" cy="411480"/>
          </a:xfrm>
          <a:prstGeom prst="line">
            <a:avLst/>
          </a:prstGeom>
          <a:noFill/>
          <a:ln w="15875">
            <a:solidFill>
              <a:srgbClr val="4A5A5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6675120" y="2834640"/>
            <a:ext cx="2313432" cy="411480"/>
          </a:xfrm>
          <a:prstGeom prst="line">
            <a:avLst/>
          </a:prstGeom>
          <a:noFill/>
          <a:ln w="15875">
            <a:solidFill>
              <a:srgbClr val="4A5A5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3977640"/>
            <a:ext cx="0" cy="365760"/>
          </a:xfrm>
          <a:prstGeom prst="line">
            <a:avLst/>
          </a:prstGeom>
          <a:noFill/>
          <a:ln w="15875">
            <a:solidFill>
              <a:srgbClr val="4A5A5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5257800"/>
            <a:ext cx="0" cy="365760"/>
          </a:xfrm>
          <a:prstGeom prst="line">
            <a:avLst/>
          </a:prstGeom>
          <a:noFill/>
          <a:ln w="15875">
            <a:solidFill>
              <a:srgbClr val="4A5A5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77824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Every session leaves a receipt neither side can edit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63040" y="2057400"/>
            <a:ext cx="9326880" cy="0"/>
          </a:xfrm>
          <a:prstGeom prst="line">
            <a:avLst/>
          </a:prstGeom>
          <a:noFill/>
          <a:ln w="12700">
            <a:solidFill>
              <a:srgbClr val="2E3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89888" y="196596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payment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receipt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4612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hash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8444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 bought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2277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paid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6110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or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57216" y="196596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07408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session end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25603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Closeout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407408" y="30632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1728" y="324612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actually used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358444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carried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392277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 issued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24544" y="196596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74736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session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174736" y="25603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score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174736" y="30632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49056" y="324612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 completed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49056" y="358444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 rate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449056" y="392277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 out of 100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166360"/>
            <a:ext cx="10908792" cy="1005840"/>
          </a:xfrm>
          <a:prstGeom prst="roundRect">
            <a:avLst>
              <a:gd name="adj" fmla="val 9091"/>
            </a:avLst>
          </a:prstGeom>
          <a:solidFill>
            <a:srgbClr val="16231F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is content-addressed, so it cannot be edited after the fact. Hosts carry that history between platforms instead of being locked into one, and buyers can check it before they connect.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01D"/>
                </a:solidFill>
              </a:rPr>
              <a:t>Working end to end, on devnet</a:t>
            </a:r>
            <a:endParaRPr lang="en-US" sz="3200" dirty="0"/>
          </a:p>
        </p:txBody>
      </p:sp>
      <p:pic>
        <p:nvPicPr>
          <p:cNvPr id="3" name="Image 0" descr="/Users/jasonfang/Desktop/hotspot-dex/hardware/renders/card_graphite_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5577840" cy="37216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60020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600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69264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Firewall-level gating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969264" y="1901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blocked until payment clears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42316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69264" y="23957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portal with wallet checkout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969264" y="2724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on Solana, tested on a phone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246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32186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purchase and extend API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547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verification before access opens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6908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" y="40416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Prorated refunds, session ledger, receipts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4370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retries, content-addressed records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89204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4892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69264" y="48646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 with a spending cap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969264" y="5193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auto-extends, no human in the loop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5623560"/>
            <a:ext cx="5440680" cy="685800"/>
          </a:xfrm>
          <a:prstGeom prst="roundRect">
            <a:avLst>
              <a:gd name="adj" fmla="val 13333"/>
            </a:avLst>
          </a:prstGeom>
          <a:solidFill>
            <a:srgbClr val="13201D"/>
          </a:solidFill>
          <a:ln w="12700">
            <a:solidFill>
              <a:srgbClr val="13201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56235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Devnet only  ·  no mainnet custody  ·  no paying users yet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first buyer is a developer, not a traveller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7589520" cy="1143000"/>
          </a:xfrm>
          <a:prstGeom prst="roundRect">
            <a:avLst>
              <a:gd name="adj" fmla="val 8000"/>
            </a:avLst>
          </a:prstGeom>
          <a:solidFill>
            <a:srgbClr val="10332E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647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platforms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6712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sanctioned way to buy access. Every x402 client is a prospect with no integration work.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29400" y="178308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35E0C8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783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HERE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6035040" cy="1143000"/>
          </a:xfrm>
          <a:prstGeom prst="roundRect">
            <a:avLst>
              <a:gd name="adj" fmla="val 8000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136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operators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38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sell access by the hour in the Philippines, Kenya, Indonesia — but cheap local billing software serves them today.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507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and pop-ups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910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guest access with receipts for reconciliation. Short contracts, seasonal demand.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7607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peer-to-peer marketplace is not the wedge. Wayru shut down in December 2025, Wicrypt dropped its token for subscriptions, and Helium now pays deployers only for real carrier traffic.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 cut of every verified session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697480" y="17556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session payment, taken at settlement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623560" cy="0"/>
          </a:xfrm>
          <a:prstGeom prst="line">
            <a:avLst/>
          </a:prstGeom>
          <a:noFill/>
          <a:ln w="12700">
            <a:solidFill>
              <a:srgbClr val="2533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175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31272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active device per month for the hosted control plane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623560" cy="0"/>
          </a:xfrm>
          <a:prstGeom prst="line">
            <a:avLst/>
          </a:prstGeom>
          <a:noFill/>
          <a:ln w="12700">
            <a:solidFill>
              <a:srgbClr val="2533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3891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44988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— volume through it is what makes the take rate worth anything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5120" y="1600200"/>
            <a:ext cx="4873752" cy="4114800"/>
          </a:xfrm>
          <a:prstGeom prst="roundRect">
            <a:avLst>
              <a:gd name="adj" fmla="val 2222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cafe, one month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sessions a day at $0.60 an hour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$540 gross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take, 10%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2852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328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subscription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49440" y="3931920"/>
            <a:ext cx="4297680" cy="0"/>
          </a:xfrm>
          <a:prstGeom prst="line">
            <a:avLst/>
          </a:prstGeom>
          <a:noFill/>
          <a:ln w="12700">
            <a:solidFill>
              <a:srgbClr val="2533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venue, per month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4023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venues  →  $5.8k monthly recurring revenue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5074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sessions are billed by the minute at $0.01, charged to the agent's own wallet.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06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$38 bill of materials at 10,000 units, sold at $99 — a margin that funds deployment, not the business.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No token, no network effect required on day one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67912"/>
                <a:gridCol w="2834640"/>
                <a:gridCol w="1828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3A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sell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3A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3A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can buy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0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offload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Routers and eSIM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and token emissions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Wicrypt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Routers plus host subscriptions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Shut down December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vendors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software for venues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3C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Metered access with proof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buyer, per session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52400" marB="152400">
                    <a:lnL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2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6231F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networks need scale before they are useful to anyone. One Netra hotspot is useful on its own, which is why this is a different bet.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Ship the SDK where agents already pay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331720"/>
            <a:ext cx="9966960" cy="0"/>
          </a:xfrm>
          <a:prstGeom prst="line">
            <a:avLst/>
          </a:prstGeom>
          <a:noFill/>
          <a:ln w="12700">
            <a:solidFill>
              <a:srgbClr val="2E3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on npm and a hosted test hotspot anyone can point an agent 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08576" y="224028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07408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07408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listed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3108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 in the x402 service directories agent developers already search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75904" y="224028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74736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74736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74736" y="3108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first ten deployments into references, then sell the operator subscription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0908792" cy="1691640"/>
          </a:xfrm>
          <a:prstGeom prst="roundRect">
            <a:avLst>
              <a:gd name="adj" fmla="val 5405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order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29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developers are reachable without a sales team: they already pay per request, and Netra is the only thing selling them access. Venue deals follow once there is traffic to point at.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663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100 deployments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5029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pilots → 25 paying venues → 100 by month 18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01D"/>
                </a:solidFill>
              </a:rPr>
              <a:t>Mainnet, then pilots, then hardware</a:t>
            </a:r>
            <a:endParaRPr lang="en-US" sz="3200" dirty="0"/>
          </a:p>
        </p:txBody>
      </p:sp>
      <p:pic>
        <p:nvPicPr>
          <p:cNvPr id="3" name="Image 0" descr="/Users/jasonfang/Desktop/hotspot-dex/hardware/renders/puck_graphite_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371600"/>
            <a:ext cx="2560320" cy="1709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06908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Puck</a:t>
            </a:r>
            <a:endParaRPr lang="en-US" sz="1250" dirty="0"/>
          </a:p>
        </p:txBody>
      </p:sp>
      <p:pic>
        <p:nvPicPr>
          <p:cNvPr id="5" name="Image 1" descr="/Users/jasonfang/Desktop/hotspot-dex/hardware/renders/card_graphite_fro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2560320" cy="1709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76656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50" dirty="0"/>
          </a:p>
        </p:txBody>
      </p:sp>
      <p:pic>
        <p:nvPicPr>
          <p:cNvPr id="7" name="Image 2" descr="/Users/jasonfang/Desktop/hotspot-dex/hardware/renders/stick_graphite_fr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371600"/>
            <a:ext cx="2560320" cy="170992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46404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1737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 factors, one control plane. Hardware follows revenue, not the other way round.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914400" y="4251960"/>
            <a:ext cx="10332720" cy="0"/>
          </a:xfrm>
          <a:prstGeom prst="line">
            <a:avLst/>
          </a:prstGeom>
          <a:noFill/>
          <a:ln w="12700">
            <a:solidFill>
              <a:srgbClr val="C2CFC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22960" y="4178808"/>
            <a:ext cx="155448" cy="155448"/>
          </a:xfrm>
          <a:prstGeom prst="ellipse">
            <a:avLst/>
          </a:prstGeom>
          <a:solidFill>
            <a:srgbClr val="13201D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82296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4754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and stablecoin settlement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5394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on Solana, custody reviewed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566160" y="4178808"/>
            <a:ext cx="155448" cy="155448"/>
          </a:xfrm>
          <a:prstGeom prst="ellipse">
            <a:avLst/>
          </a:prstGeom>
          <a:solidFill>
            <a:srgbClr val="8FA09B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56616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4754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control plane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566160" y="5394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run nothing themselves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178808"/>
            <a:ext cx="155448" cy="155448"/>
          </a:xfrm>
          <a:prstGeom prst="ellipse">
            <a:avLst/>
          </a:prstGeom>
          <a:solidFill>
            <a:srgbClr val="8FA09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30936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4754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paid pilots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5394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Cafes, co-working, one event series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52560" y="4178808"/>
            <a:ext cx="155448" cy="155448"/>
          </a:xfrm>
          <a:prstGeom prst="ellipse">
            <a:avLst/>
          </a:prstGeom>
          <a:solidFill>
            <a:srgbClr val="8FA09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905256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9052560" y="4754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build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9052560" y="5394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units, DVT and certification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5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Who is building this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6400800" cy="3931920"/>
          </a:xfrm>
          <a:prstGeom prst="roundRect">
            <a:avLst>
              <a:gd name="adj" fmla="val 2326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Fang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4231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97180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971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9443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whole stack solo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289304" y="32735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gating, on-chain payment verification, session ledger, refunds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84048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840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9304" y="3813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agent SDK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289304" y="4142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caps, auto-extend, hotspot discovery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470916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709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9304" y="46817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hardware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50109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 factors modelled and rendered, interactive teardown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164592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16231F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first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engineer: embedded Linux and networking, to take the gateway from a Mac demo to shipped hardware.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0" y="370332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16231F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wanted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4297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telecom operator who has sold access by the hour, one payments lawyer for stablecoin settlement.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$750,000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18 months of runway</a:t>
            </a:r>
            <a:endParaRPr lang="en-US" sz="1700" dirty="0"/>
          </a:p>
        </p:txBody>
      </p:sp>
      <p:pic>
        <p:nvPicPr>
          <p:cNvPr id="5" name="Image 0" descr="/Users/jasonfang/Desktop/hotspot-dex/hardware/renders/puck_graphit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097280"/>
            <a:ext cx="4206240" cy="2807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3703320"/>
            <a:ext cx="3675888" cy="457200"/>
          </a:xfrm>
          <a:prstGeom prst="rect">
            <a:avLst/>
          </a:prstGeom>
          <a:solidFill>
            <a:srgbClr val="35E0C8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251960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55%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15968" y="3703320"/>
            <a:ext cx="1673352" cy="457200"/>
          </a:xfrm>
          <a:prstGeom prst="rect">
            <a:avLst/>
          </a:prstGeom>
          <a:solidFill>
            <a:srgbClr val="1F6D63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15968" y="425196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25%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89320" y="3703320"/>
            <a:ext cx="1335024" cy="457200"/>
          </a:xfrm>
          <a:prstGeom prst="rect">
            <a:avLst/>
          </a:prstGeom>
          <a:solidFill>
            <a:srgbClr val="13201D"/>
          </a:solidFill>
          <a:ln w="25400">
            <a:solidFill>
              <a:srgbClr val="0B0F0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425196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  20%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681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buys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5074920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5074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504748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settlement and a hosted control plane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5047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458968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54589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543153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paying deployments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54315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5843016"/>
            <a:ext cx="182880" cy="182880"/>
          </a:xfrm>
          <a:prstGeom prst="ellipse">
            <a:avLst/>
          </a:prstGeom>
          <a:solidFill>
            <a:srgbClr val="35E0C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5843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69264" y="581558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agent sessions a month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58155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355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jason@netra  ·  pieismath.github.io/netra-viewer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Appendix: how it is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40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portal in the browser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474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039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or any x402 client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21945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10332E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2377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 ·  Node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706624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traffic with pf firewall rules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payment on Solana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session ledger in SQLite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uploads each receipt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0" y="1737360"/>
            <a:ext cx="2770632" cy="1051560"/>
          </a:xfrm>
          <a:prstGeom prst="roundRect">
            <a:avLst>
              <a:gd name="adj" fmla="val 8696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06840" y="19202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224942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payment happened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0" y="2971800"/>
            <a:ext cx="2770632" cy="1051560"/>
          </a:xfrm>
          <a:prstGeom prst="roundRect">
            <a:avLst>
              <a:gd name="adj" fmla="val 8696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06840" y="315468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Filecoin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348386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receipt afterwards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0" y="4206240"/>
            <a:ext cx="2770632" cy="1051560"/>
          </a:xfrm>
          <a:prstGeom prst="roundRect">
            <a:avLst>
              <a:gd name="adj" fmla="val 8696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06840" y="438912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dashboard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471830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sessions, hashes, scores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83280" y="2377440"/>
            <a:ext cx="731520" cy="365760"/>
          </a:xfrm>
          <a:prstGeom prst="line">
            <a:avLst/>
          </a:prstGeom>
          <a:noFill/>
          <a:ln w="15875">
            <a:solidFill>
              <a:srgbClr val="4A5A5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3383280" y="3566160"/>
            <a:ext cx="731520" cy="274320"/>
          </a:xfrm>
          <a:prstGeom prst="line">
            <a:avLst/>
          </a:prstGeom>
          <a:noFill/>
          <a:ln w="15875">
            <a:solidFill>
              <a:srgbClr val="4A5A5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8046720" y="2286000"/>
            <a:ext cx="731520" cy="457200"/>
          </a:xfrm>
          <a:prstGeom prst="line">
            <a:avLst/>
          </a:prstGeom>
          <a:noFill/>
          <a:ln w="15875">
            <a:solidFill>
              <a:srgbClr val="4A5A5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46720" y="3291840"/>
            <a:ext cx="731520" cy="182880"/>
          </a:xfrm>
          <a:prstGeom prst="line">
            <a:avLst/>
          </a:prstGeom>
          <a:noFill/>
          <a:ln w="15875">
            <a:solidFill>
              <a:srgbClr val="4A5A5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46720" y="3840480"/>
            <a:ext cx="731520" cy="822960"/>
          </a:xfrm>
          <a:prstGeom prst="line">
            <a:avLst/>
          </a:prstGeom>
          <a:noFill/>
          <a:ln w="15875">
            <a:solidFill>
              <a:srgbClr val="4A5A5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4008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 end for the marketplace, portal and dashboard. It never touches a chain directly — it asks the control plane.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Appendix: what a record holds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6231F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RECEIPT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4846320" cy="0"/>
          </a:xfrm>
          <a:prstGeom prst="line">
            <a:avLst/>
          </a:prstGeom>
          <a:noFill/>
          <a:ln w="12700">
            <a:solidFill>
              <a:srgbClr val="2533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c4f1a9e2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825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630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0.006 SOL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032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hash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40325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5KJp…r8Qa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at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2026-10-05 14:22 UTC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37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48371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bafybeigd…m4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1600200"/>
            <a:ext cx="5148072" cy="2011680"/>
          </a:xfrm>
          <a:prstGeom prst="roundRect">
            <a:avLst>
              <a:gd name="adj" fmla="val 4545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Closeout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240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when the session ends: time actually used, data carried, and whether a refund was issued.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0" y="3794760"/>
            <a:ext cx="5148072" cy="2011680"/>
          </a:xfrm>
          <a:prstGeom prst="roundRect">
            <a:avLst>
              <a:gd name="adj" fmla="val 4545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reputation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434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after every session: sessions completed, refund rate, reliability out of 100, and the full success and failure history.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CID is calculated from the file's contents, so any edit produces a different ID and the change is obvious.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Appendix: why this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8013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x402 volume already is, and fast and cheap enough to gate a live session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595360" y="1837944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card rails that cannot charge a cent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908792" cy="0"/>
          </a:xfrm>
          <a:prstGeom prst="line">
            <a:avLst/>
          </a:prstGeom>
          <a:noFill/>
          <a:ln w="12700">
            <a:solidFill>
              <a:srgbClr val="2533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2186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HTTP status code, not an integration — any client that speaks it works with Netra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3255264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accounts, API keys, custom billing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908792" cy="0"/>
          </a:xfrm>
          <a:prstGeom prst="line">
            <a:avLst/>
          </a:prstGeom>
          <a:noFill/>
          <a:ln w="12700">
            <a:solidFill>
              <a:srgbClr val="2533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617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Filecoin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63600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outlive the server that wrote them, so reputation is portable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4672584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a database only the host can read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3201D"/>
          </a:solidFill>
          <a:ln w="12700">
            <a:solidFill>
              <a:srgbClr val="2533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needs a token. Buyers pay in stablecoins, hosts are paid in stablecoins, and the protocol works with one device on day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84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ra">
  <a:themeElements>
    <a:clrScheme name="Netra">
      <a:dk1>
        <a:srgbClr val="0B0F0E"/>
      </a:dk1>
      <a:lt1>
        <a:srgbClr val="FFFFFF"/>
      </a:lt1>
      <a:dk2>
        <a:srgbClr val="13201D"/>
      </a:dk2>
      <a:lt2>
        <a:srgbClr val="EDF0EF"/>
      </a:lt2>
      <a:accent1>
        <a:srgbClr val="35E0C8"/>
      </a:accent1>
      <a:accent2>
        <a:srgbClr val="7FB3AA"/>
      </a:accent2>
      <a:accent3>
        <a:srgbClr val="C8792F"/>
      </a:accent3>
      <a:accent4>
        <a:srgbClr val="4F74B0"/>
      </a:accent4>
      <a:accent5>
        <a:srgbClr val="93A5A0"/>
      </a:accent5>
      <a:accent6>
        <a:srgbClr val="53625E"/>
      </a:accent6>
      <a:hlink>
        <a:srgbClr val="35E0C8"/>
      </a:hlink>
      <a:folHlink>
        <a:srgbClr val="7FB3AA"/>
      </a:folHlink>
    </a:clrScheme>
    <a:fontScheme name="Netr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Netra</dc:title>
  <dc:subject>PptxGenJS Presentation</dc:subject>
  <dc:creator>Jason Fang</dc:creator>
  <cp:lastModifiedBy>Jason Fang</cp:lastModifiedBy>
  <cp:revision>1</cp:revision>
  <dcterms:created xsi:type="dcterms:W3CDTF">2026-10-05T19:39:28Z</dcterms:created>
  <dcterms:modified xsi:type="dcterms:W3CDTF">2026-10-05T19:39:28Z</dcterms:modified>
</cp:coreProperties>
</file>